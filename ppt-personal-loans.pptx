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jpeg" ContentType="image/jpeg"/>
  <Default Extension="fntdata" ContentType="application/x-fontdata"/>
  <Default Extension="png" ContentType="image/png"/>
  <Default Extension="wdp" ContentType="image/vnd.ms-photo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</p:sldIdLst>
  <p:sldSz cx="14630400" cy="8229600"/>
  <p:notesSz cx="8229600" cy="14630400"/>
  <p:embeddedFontLst>
    <p:embeddedFont>
      <p:font typeface="Platypi Medium" panose="020B0604020202020204" charset="0"/>
      <p:regular r:id="rId13"/>
    </p:embeddedFont>
    <p:embeddedFont>
      <p:font typeface="Sitka Banner" pitchFamily="2" charset="0"/>
      <p:regular r:id="rId14"/>
      <p:bold r:id="rId15"/>
      <p:italic r:id="rId16"/>
      <p:boldItalic r:id="rId17"/>
    </p:embeddedFont>
    <p:embeddedFont>
      <p:font typeface="Source Serif Pro" panose="02040603050405020204" pitchFamily="18" charset="0"/>
      <p:regular r:id="rId18"/>
      <p:bold r:id="rId19"/>
      <p:italic r:id="rId20"/>
      <p:boldItalic r:id="rId21"/>
    </p:embeddedFont>
    <p:embeddedFont>
      <p:font typeface="Source Serif Pro Bold" panose="02040803050405020204" pitchFamily="18" charset="0"/>
      <p:bold r:id="rId22"/>
    </p:embeddedFont>
    <p:embeddedFont>
      <p:font typeface="Tw Cen MT" panose="020B0602020104020603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font" Target="/ppt/fonts/font1.fntdata" Id="rId13" /><Relationship Type="http://schemas.openxmlformats.org/officeDocument/2006/relationships/font" Target="/ppt/fonts/font6.fntdata" Id="rId18" /><Relationship Type="http://schemas.openxmlformats.org/officeDocument/2006/relationships/viewProps" Target="/ppt/viewProps.xml" Id="rId26" /><Relationship Type="http://schemas.openxmlformats.org/officeDocument/2006/relationships/slide" Target="/ppt/slides/slide2.xml" Id="rId3" /><Relationship Type="http://schemas.openxmlformats.org/officeDocument/2006/relationships/font" Target="/ppt/fonts/font9.fntdata" Id="rId21" /><Relationship Type="http://schemas.openxmlformats.org/officeDocument/2006/relationships/slide" Target="/ppt/slides/slide6.xml" Id="rId7" /><Relationship Type="http://schemas.openxmlformats.org/officeDocument/2006/relationships/notesMaster" Target="/ppt/notesMasters/notesMaster1.xml" Id="rId12" /><Relationship Type="http://schemas.openxmlformats.org/officeDocument/2006/relationships/font" Target="/ppt/fonts/font5.fntdata" Id="rId17" /><Relationship Type="http://schemas.openxmlformats.org/officeDocument/2006/relationships/presProps" Target="/ppt/presProps.xml" Id="rId25" /><Relationship Type="http://schemas.openxmlformats.org/officeDocument/2006/relationships/slide" Target="/ppt/slides/slide1.xml" Id="rId2" /><Relationship Type="http://schemas.openxmlformats.org/officeDocument/2006/relationships/font" Target="/ppt/fonts/font4.fntdata" Id="rId16" /><Relationship Type="http://schemas.openxmlformats.org/officeDocument/2006/relationships/font" Target="/ppt/fonts/font8.fntdata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font" Target="/ppt/fonts/font12.fntdata" Id="rId24" /><Relationship Type="http://schemas.openxmlformats.org/officeDocument/2006/relationships/slide" Target="/ppt/slides/slide4.xml" Id="rId5" /><Relationship Type="http://schemas.openxmlformats.org/officeDocument/2006/relationships/font" Target="/ppt/fonts/font3.fntdata" Id="rId15" /><Relationship Type="http://schemas.openxmlformats.org/officeDocument/2006/relationships/font" Target="/ppt/fonts/font11.fntdata" Id="rId23" /><Relationship Type="http://schemas.openxmlformats.org/officeDocument/2006/relationships/tableStyles" Target="/ppt/tableStyles.xml" Id="rId28" /><Relationship Type="http://schemas.openxmlformats.org/officeDocument/2006/relationships/slide" Target="/ppt/slides/slide9.xml" Id="rId10" /><Relationship Type="http://schemas.openxmlformats.org/officeDocument/2006/relationships/font" Target="/ppt/fonts/font7.fntdata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font" Target="/ppt/fonts/font2.fntdata" Id="rId14" /><Relationship Type="http://schemas.openxmlformats.org/officeDocument/2006/relationships/font" Target="/ppt/fonts/font10.fntdata" Id="rId22" /><Relationship Type="http://schemas.openxmlformats.org/officeDocument/2006/relationships/theme" Target="/ppt/theme/theme1.xml" Id="rI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904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5E2F7-DB03-DE75-42D0-6747803EB0B6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C6179-13B5-C154-0B1B-611E13F23206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F1BB9-E0C7-56AB-EBFA-012C2F023227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DC5EC-95BE-D2F2-1CFF-647DA467546F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36CE0-E903-EA4A-000C-61E007DA94DC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5D7D4-C936-D880-1905-8DE8D0BED279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45E8F-7260-996D-D459-1B5CF0F63640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D686A-F276-D04C-AF83-66ED28DCF592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2E127-97A0-E770-709E-4673966D4542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4601B-CDAA-417C-896A-3EBBF835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115F-65E7-4948-BBBD-A84F05213A8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1B993-D7C5-4B2F-978A-53C1EAAC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B1606-B9AC-4E4C-BDB5-EFB17BF6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DDA6-1DBC-4F4A-8EE5-258398DC1DC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20D8E-A677-38BE-B7A9-32D979045ECD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  <p:extLst>
      <p:ext uri="{BB962C8B-B14F-4D97-AF65-F5344CB8AC3E}">
        <p14:creationId xmlns:p14="http://schemas.microsoft.com/office/powerpoint/2010/main" val="334229189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32E8B-13C2-39F9-3D6C-385CC788E925}"/>
              </a:ext>
            </a:extLst>
          </p:cNvPr>
          <p:cNvSpPr txBox="1"/>
          <p:nvPr userDrawn="1"/>
        </p:nvSpPr>
        <p:spPr>
          <a:xfrm>
            <a:off x="12475029" y="7717971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By Amit Sankhyan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e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3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png" Id="rId3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4.xml" Id="rId1" /><Relationship Type="http://schemas.microsoft.com/office/2007/relationships/hdphoto" Target="/ppt/media/hdphoto1.wdp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4.png" Id="rId3" /><Relationship Type="http://schemas.openxmlformats.org/officeDocument/2006/relationships/image" Target="/ppt/media/image8.jpeg" Id="rId7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5.xml" Id="rId1" /><Relationship Type="http://schemas.openxmlformats.org/officeDocument/2006/relationships/image" Target="/ppt/media/image7.png" Id="rId6" /><Relationship Type="http://schemas.openxmlformats.org/officeDocument/2006/relationships/image" Target="/ppt/media/image6.png" Id="rId5" /><Relationship Type="http://schemas.openxmlformats.org/officeDocument/2006/relationships/image" Target="/ppt/media/image5.pn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3.png" Id="rId8" /><Relationship Type="http://schemas.openxmlformats.org/officeDocument/2006/relationships/image" Target="/ppt/media/image9.png" Id="rId3" /><Relationship Type="http://schemas.openxmlformats.org/officeDocument/2006/relationships/image" Target="/ppt/media/image12.png" Id="rId7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6.xml" Id="rId1" /><Relationship Type="http://schemas.openxmlformats.org/officeDocument/2006/relationships/image" Target="/ppt/media/image11.png" Id="rId6" /><Relationship Type="http://schemas.openxmlformats.org/officeDocument/2006/relationships/image" Target="/ppt/media/image10.png" Id="rId5" /><Relationship Type="http://schemas.microsoft.com/office/2007/relationships/hdphoto" Target="/ppt/media/hdphoto2.wdp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pn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6.jpeg" Id="rId3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8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7.png" Id="rId3" /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9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8.png" Id="rId3" /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10.xml" Id="rId1" /><Relationship Type="http://schemas.openxmlformats.org/officeDocument/2006/relationships/image" Target="/ppt/media/image19.png" Id="rId4" /></Relationships>
</file>

<file path=ppt/slides/_rels/slide10.xml.rels>&#65279;<?xml version="1.0" encoding="utf-8"?><Relationships xmlns="http://schemas.openxmlformats.org/package/2006/relationships"><Relationship Type="http://schemas.microsoft.com/office/2007/relationships/hdphoto" Target="/ppt/media/hdphoto3.wdp" Id="rId3" /><Relationship Type="http://schemas.openxmlformats.org/officeDocument/2006/relationships/image" Target="/ppt/media/image20.png" Id="rId2" /><Relationship Type="http://schemas.openxmlformats.org/officeDocument/2006/relationships/slideLayout" Target="/ppt/slideLayouts/slideLayout1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7937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3232543" y="7640157"/>
            <a:ext cx="11719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050" b="1" dirty="0">
                <a:solidFill>
                  <a:srgbClr val="504C49"/>
                </a:solidFill>
                <a:latin typeface="Source Serif Pro Bold" pitchFamily="34" charset="0"/>
                <a:ea typeface="Source Serif Pro Bold" pitchFamily="34" charset="-122"/>
                <a:cs typeface="Source Serif Pro Bold" pitchFamily="34" charset="-120"/>
              </a:rPr>
              <a:t>by amit sankhyan</a:t>
            </a:r>
            <a:endParaRPr lang="en-US" sz="1050" dirty="0"/>
          </a:p>
        </p:txBody>
      </p:sp>
      <p:pic>
        <p:nvPicPr>
          <p:cNvPr id="1034" name="Picture 10" descr="What is the processing fee on personal loans? - Airtel">
            <a:extLst>
              <a:ext uri="{FF2B5EF4-FFF2-40B4-BE49-F238E27FC236}">
                <a16:creationId xmlns:a16="http://schemas.microsoft.com/office/drawing/2014/main" id="{6E0BDCA8-88DA-FD1D-1FB3-BC360DAC3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39"/>
          <a:stretch/>
        </p:blipFill>
        <p:spPr bwMode="auto">
          <a:xfrm>
            <a:off x="6099858" y="1"/>
            <a:ext cx="853054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7FB96BF-8FF6-A317-21FE-376793D95410}"/>
              </a:ext>
            </a:extLst>
          </p:cNvPr>
          <p:cNvGrpSpPr/>
          <p:nvPr/>
        </p:nvGrpSpPr>
        <p:grpSpPr>
          <a:xfrm>
            <a:off x="1156693" y="3608636"/>
            <a:ext cx="12438753" cy="1682774"/>
            <a:chOff x="1156693" y="3608636"/>
            <a:chExt cx="12438753" cy="1682774"/>
          </a:xfrm>
        </p:grpSpPr>
        <p:sp>
          <p:nvSpPr>
            <p:cNvPr id="4" name="Text 1"/>
            <p:cNvSpPr/>
            <p:nvPr/>
          </p:nvSpPr>
          <p:spPr>
            <a:xfrm>
              <a:off x="1596392" y="4461598"/>
              <a:ext cx="7556421" cy="396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solidFill>
                    <a:srgbClr val="504C49"/>
                  </a:solidFill>
                  <a:latin typeface="Sitka Banner" pitchFamily="2" charset="0"/>
                  <a:ea typeface="Source Serif Pro" pitchFamily="34" charset="-122"/>
                  <a:cs typeface="Source Serif Pro" pitchFamily="34" charset="-120"/>
                </a:rPr>
                <a:t>A comprehensive guide to personal loans</a:t>
              </a:r>
              <a:r>
                <a:rPr lang="en-US" sz="1750" dirty="0">
                  <a:solidFill>
                    <a:srgbClr val="504C49"/>
                  </a:solidFill>
                  <a:latin typeface="Sitka Banner" pitchFamily="2" charset="0"/>
                  <a:ea typeface="Source Serif Pro" pitchFamily="34" charset="-122"/>
                  <a:cs typeface="Source Serif Pro" pitchFamily="34" charset="-120"/>
                </a:rPr>
                <a:t>. </a:t>
              </a:r>
              <a:endParaRPr lang="en-US" sz="1750" dirty="0">
                <a:latin typeface="Sitka Banner" pitchFamily="2" charset="0"/>
              </a:endParaRPr>
            </a:p>
          </p:txBody>
        </p:sp>
        <p:sp>
          <p:nvSpPr>
            <p:cNvPr id="3" name="Text 0"/>
            <p:cNvSpPr/>
            <p:nvPr/>
          </p:nvSpPr>
          <p:spPr>
            <a:xfrm>
              <a:off x="1156693" y="3608636"/>
              <a:ext cx="12438753" cy="16827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00" dirty="0"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Understanding Pe</a:t>
              </a:r>
              <a:r>
                <a:rPr lang="en-US" sz="4400" dirty="0">
                  <a:solidFill>
                    <a:schemeClr val="bg1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rsonal Loans</a:t>
              </a:r>
              <a:endParaRPr lang="en-US" sz="4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33105"/>
            <a:ext cx="58222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Agenda</a:t>
            </a:r>
            <a:endParaRPr lang="en-US" sz="44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685B10-61B7-332E-EB06-8DF860EBA2B8}"/>
              </a:ext>
            </a:extLst>
          </p:cNvPr>
          <p:cNvGrpSpPr/>
          <p:nvPr/>
        </p:nvGrpSpPr>
        <p:grpSpPr>
          <a:xfrm>
            <a:off x="793790" y="2337196"/>
            <a:ext cx="5468114" cy="510303"/>
            <a:chOff x="793790" y="2337196"/>
            <a:chExt cx="5468114" cy="510303"/>
          </a:xfrm>
        </p:grpSpPr>
        <p:sp>
          <p:nvSpPr>
            <p:cNvPr id="4" name="Shape 1"/>
            <p:cNvSpPr/>
            <p:nvPr/>
          </p:nvSpPr>
          <p:spPr>
            <a:xfrm>
              <a:off x="793790" y="2337197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8F3E8"/>
            </a:solidFill>
            <a:ln/>
          </p:spPr>
        </p:sp>
        <p:sp>
          <p:nvSpPr>
            <p:cNvPr id="5" name="Text 2"/>
            <p:cNvSpPr/>
            <p:nvPr/>
          </p:nvSpPr>
          <p:spPr>
            <a:xfrm>
              <a:off x="878860" y="237970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1</a:t>
              </a:r>
              <a:endParaRPr lang="en-US" sz="26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530906" y="2337196"/>
              <a:ext cx="4730998" cy="467797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Loans Overview</a:t>
              </a:r>
              <a:endParaRPr lang="en-US" sz="2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4EE7E6-E851-624D-DCC0-AF19F3C566B2}"/>
              </a:ext>
            </a:extLst>
          </p:cNvPr>
          <p:cNvGrpSpPr/>
          <p:nvPr/>
        </p:nvGrpSpPr>
        <p:grpSpPr>
          <a:xfrm>
            <a:off x="793790" y="3152299"/>
            <a:ext cx="5468114" cy="510302"/>
            <a:chOff x="793790" y="3152299"/>
            <a:chExt cx="5468114" cy="510302"/>
          </a:xfrm>
        </p:grpSpPr>
        <p:sp>
          <p:nvSpPr>
            <p:cNvPr id="8" name="Shape 5"/>
            <p:cNvSpPr/>
            <p:nvPr/>
          </p:nvSpPr>
          <p:spPr>
            <a:xfrm>
              <a:off x="793790" y="3152299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8F3E8"/>
            </a:solidFill>
            <a:ln/>
          </p:spPr>
        </p:sp>
        <p:sp>
          <p:nvSpPr>
            <p:cNvPr id="9" name="Text 6"/>
            <p:cNvSpPr/>
            <p:nvPr/>
          </p:nvSpPr>
          <p:spPr>
            <a:xfrm>
              <a:off x="878860" y="3194804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2</a:t>
              </a:r>
              <a:endParaRPr lang="en-US" sz="26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530906" y="3152299"/>
              <a:ext cx="4730998" cy="510302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Personal Loans Defined</a:t>
              </a:r>
              <a:endParaRPr lang="en-US" sz="2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16C91FF-A0D9-FD80-E38A-FADB729F352C}"/>
              </a:ext>
            </a:extLst>
          </p:cNvPr>
          <p:cNvGrpSpPr/>
          <p:nvPr/>
        </p:nvGrpSpPr>
        <p:grpSpPr>
          <a:xfrm>
            <a:off x="793790" y="3832741"/>
            <a:ext cx="5468114" cy="510302"/>
            <a:chOff x="793790" y="3832741"/>
            <a:chExt cx="5468114" cy="510302"/>
          </a:xfrm>
        </p:grpSpPr>
        <p:sp>
          <p:nvSpPr>
            <p:cNvPr id="12" name="Shape 9"/>
            <p:cNvSpPr/>
            <p:nvPr/>
          </p:nvSpPr>
          <p:spPr>
            <a:xfrm>
              <a:off x="793790" y="3832741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8F3E8"/>
            </a:solidFill>
            <a:ln/>
          </p:spPr>
        </p:sp>
        <p:sp>
          <p:nvSpPr>
            <p:cNvPr id="13" name="Text 10"/>
            <p:cNvSpPr/>
            <p:nvPr/>
          </p:nvSpPr>
          <p:spPr>
            <a:xfrm>
              <a:off x="878860" y="3875246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3</a:t>
              </a:r>
              <a:endParaRPr lang="en-US" sz="26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530906" y="3832741"/>
              <a:ext cx="4730998" cy="510302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Features</a:t>
              </a:r>
              <a:endParaRPr lang="en-US" sz="22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9C85EB1-E3B5-C380-27C1-835CE01D60FF}"/>
              </a:ext>
            </a:extLst>
          </p:cNvPr>
          <p:cNvGrpSpPr/>
          <p:nvPr/>
        </p:nvGrpSpPr>
        <p:grpSpPr>
          <a:xfrm>
            <a:off x="793790" y="4585572"/>
            <a:ext cx="5468114" cy="510302"/>
            <a:chOff x="793790" y="4585572"/>
            <a:chExt cx="5468114" cy="510302"/>
          </a:xfrm>
        </p:grpSpPr>
        <p:sp>
          <p:nvSpPr>
            <p:cNvPr id="16" name="Shape 13"/>
            <p:cNvSpPr/>
            <p:nvPr/>
          </p:nvSpPr>
          <p:spPr>
            <a:xfrm>
              <a:off x="793790" y="4585572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9F7F7"/>
            </a:solidFill>
            <a:ln/>
          </p:spPr>
        </p:sp>
        <p:sp>
          <p:nvSpPr>
            <p:cNvPr id="17" name="Text 14"/>
            <p:cNvSpPr/>
            <p:nvPr/>
          </p:nvSpPr>
          <p:spPr>
            <a:xfrm>
              <a:off x="878860" y="4628077"/>
              <a:ext cx="340162" cy="425291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4</a:t>
              </a:r>
              <a:endParaRPr lang="en-US" sz="26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530906" y="4585572"/>
              <a:ext cx="4730998" cy="467796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Eligibility</a:t>
              </a:r>
              <a:endParaRPr lang="en-US" sz="22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28AF8C-24AA-4D87-A56D-571D6EB9401E}"/>
              </a:ext>
            </a:extLst>
          </p:cNvPr>
          <p:cNvGrpSpPr/>
          <p:nvPr/>
        </p:nvGrpSpPr>
        <p:grpSpPr>
          <a:xfrm>
            <a:off x="793790" y="5205768"/>
            <a:ext cx="5468114" cy="510302"/>
            <a:chOff x="793790" y="5205768"/>
            <a:chExt cx="5468114" cy="510302"/>
          </a:xfrm>
        </p:grpSpPr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ED21CDFC-51E1-B60C-1538-0491B9D6BDA9}"/>
                </a:ext>
              </a:extLst>
            </p:cNvPr>
            <p:cNvSpPr/>
            <p:nvPr/>
          </p:nvSpPr>
          <p:spPr>
            <a:xfrm>
              <a:off x="793790" y="5205768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8F3E8"/>
            </a:solidFill>
            <a:ln/>
          </p:spPr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3EF9EA4F-BB28-047A-D5B2-FB84A7885D9A}"/>
                </a:ext>
              </a:extLst>
            </p:cNvPr>
            <p:cNvSpPr/>
            <p:nvPr/>
          </p:nvSpPr>
          <p:spPr>
            <a:xfrm>
              <a:off x="878860" y="5248273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504C49"/>
                  </a:solidFill>
                  <a:latin typeface="Platypi Medium" pitchFamily="34" charset="0"/>
                  <a:cs typeface="Platypi Medium" pitchFamily="34" charset="-120"/>
                </a:rPr>
                <a:t>5</a:t>
              </a:r>
              <a:endParaRPr lang="en-US" sz="2650" dirty="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06A63D54-E4A8-C2F3-060F-60E76440347B}"/>
                </a:ext>
              </a:extLst>
            </p:cNvPr>
            <p:cNvSpPr/>
            <p:nvPr/>
          </p:nvSpPr>
          <p:spPr>
            <a:xfrm>
              <a:off x="1530906" y="5205768"/>
              <a:ext cx="4730998" cy="510302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Required Document</a:t>
              </a:r>
              <a:endParaRPr lang="en-US" sz="2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503D993-09A4-B391-940A-29DB6D9969F5}"/>
              </a:ext>
            </a:extLst>
          </p:cNvPr>
          <p:cNvGrpSpPr/>
          <p:nvPr/>
        </p:nvGrpSpPr>
        <p:grpSpPr>
          <a:xfrm>
            <a:off x="793790" y="5832143"/>
            <a:ext cx="5468114" cy="510302"/>
            <a:chOff x="793790" y="5832143"/>
            <a:chExt cx="5468114" cy="510302"/>
          </a:xfrm>
        </p:grpSpPr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A5FA77A3-F456-680C-3E76-808AC8CF8CB2}"/>
                </a:ext>
              </a:extLst>
            </p:cNvPr>
            <p:cNvSpPr/>
            <p:nvPr/>
          </p:nvSpPr>
          <p:spPr>
            <a:xfrm>
              <a:off x="793790" y="583214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8F3E8"/>
            </a:solidFill>
            <a:ln/>
          </p:spPr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A46CBF11-748B-A045-AE48-AD1E9BD22609}"/>
                </a:ext>
              </a:extLst>
            </p:cNvPr>
            <p:cNvSpPr/>
            <p:nvPr/>
          </p:nvSpPr>
          <p:spPr>
            <a:xfrm>
              <a:off x="878860" y="5874648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504C49"/>
                  </a:solidFill>
                  <a:latin typeface="Platypi Medium" pitchFamily="34" charset="0"/>
                  <a:cs typeface="Platypi Medium" pitchFamily="34" charset="-120"/>
                </a:rPr>
                <a:t>6</a:t>
              </a:r>
              <a:endParaRPr lang="en-US" sz="2650" dirty="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51DE9AC8-7072-71B9-D948-04D590CA4E97}"/>
                </a:ext>
              </a:extLst>
            </p:cNvPr>
            <p:cNvSpPr/>
            <p:nvPr/>
          </p:nvSpPr>
          <p:spPr>
            <a:xfrm>
              <a:off x="1530906" y="5832143"/>
              <a:ext cx="4730998" cy="510302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Application Process</a:t>
              </a:r>
              <a:endParaRPr lang="en-US" sz="22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0BEC929-2B15-4BA8-A1CB-D2CADB321E60}"/>
              </a:ext>
            </a:extLst>
          </p:cNvPr>
          <p:cNvGrpSpPr/>
          <p:nvPr/>
        </p:nvGrpSpPr>
        <p:grpSpPr>
          <a:xfrm>
            <a:off x="793790" y="6614490"/>
            <a:ext cx="5468114" cy="510302"/>
            <a:chOff x="793790" y="6614490"/>
            <a:chExt cx="5468114" cy="510302"/>
          </a:xfrm>
        </p:grpSpPr>
        <p:sp>
          <p:nvSpPr>
            <p:cNvPr id="29" name="Shape 13">
              <a:extLst>
                <a:ext uri="{FF2B5EF4-FFF2-40B4-BE49-F238E27FC236}">
                  <a16:creationId xmlns:a16="http://schemas.microsoft.com/office/drawing/2014/main" id="{8994236C-5068-7DD7-01D9-3FBCAF568279}"/>
                </a:ext>
              </a:extLst>
            </p:cNvPr>
            <p:cNvSpPr/>
            <p:nvPr/>
          </p:nvSpPr>
          <p:spPr>
            <a:xfrm>
              <a:off x="793790" y="6614490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8F3E8"/>
            </a:solidFill>
            <a:ln/>
          </p:spPr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8FA814DC-1895-F217-E4FD-EA5CE93EEB77}"/>
                </a:ext>
              </a:extLst>
            </p:cNvPr>
            <p:cNvSpPr/>
            <p:nvPr/>
          </p:nvSpPr>
          <p:spPr>
            <a:xfrm>
              <a:off x="878860" y="6656995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/>
                <a:t>7</a:t>
              </a:r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0F2C9276-95F1-F510-EE6E-9DF75C85F45E}"/>
                </a:ext>
              </a:extLst>
            </p:cNvPr>
            <p:cNvSpPr/>
            <p:nvPr/>
          </p:nvSpPr>
          <p:spPr>
            <a:xfrm>
              <a:off x="1530906" y="6614490"/>
              <a:ext cx="4730998" cy="467796"/>
            </a:xfrm>
            <a:prstGeom prst="rect">
              <a:avLst/>
            </a:prstGeom>
            <a:solidFill>
              <a:srgbClr val="E8F3E8"/>
            </a:solidFill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Benefits and considerations</a:t>
              </a:r>
              <a:endParaRPr lang="en-US" sz="2200" dirty="0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9157EE4C-F213-C2EF-5097-72DB1BF27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065" y="708791"/>
            <a:ext cx="8160152" cy="6988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5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25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75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are the Different Types of Loan Available in India?">
            <a:extLst>
              <a:ext uri="{FF2B5EF4-FFF2-40B4-BE49-F238E27FC236}">
                <a16:creationId xmlns:a16="http://schemas.microsoft.com/office/drawing/2014/main" id="{55ABA32D-86E7-119A-4641-F9204C322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"/>
                    </a14:imgEffect>
                    <a14:imgEffect>
                      <a14:brightnessContrast bright="1000" contrast="-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071" y="0"/>
            <a:ext cx="641132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770640" y="1143714"/>
            <a:ext cx="7221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Loans and Types of Loans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70640" y="219265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Loans are borrowed sums of money. These funds must be repaid with interest over a specified period.</a:t>
            </a: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A79B4C-724B-E6EF-06B7-F11B243B8150}"/>
              </a:ext>
            </a:extLst>
          </p:cNvPr>
          <p:cNvGrpSpPr/>
          <p:nvPr/>
        </p:nvGrpSpPr>
        <p:grpSpPr>
          <a:xfrm>
            <a:off x="770640" y="3173611"/>
            <a:ext cx="7556421" cy="807958"/>
            <a:chOff x="770640" y="3173611"/>
            <a:chExt cx="7556421" cy="807958"/>
          </a:xfrm>
        </p:grpSpPr>
        <p:sp>
          <p:nvSpPr>
            <p:cNvPr id="5" name="Shape 2"/>
            <p:cNvSpPr/>
            <p:nvPr/>
          </p:nvSpPr>
          <p:spPr>
            <a:xfrm>
              <a:off x="770640" y="3173611"/>
              <a:ext cx="7556421" cy="807958"/>
            </a:xfrm>
            <a:prstGeom prst="roundRect">
              <a:avLst>
                <a:gd name="adj" fmla="val 4211"/>
              </a:avLst>
            </a:prstGeom>
            <a:solidFill>
              <a:srgbClr val="E8F3E8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997454" y="340042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Personal Loans</a:t>
              </a:r>
              <a:endParaRPr lang="en-US" sz="2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6A1F7A-D2AA-6837-E66C-DEEAA8672C03}"/>
              </a:ext>
            </a:extLst>
          </p:cNvPr>
          <p:cNvGrpSpPr/>
          <p:nvPr/>
        </p:nvGrpSpPr>
        <p:grpSpPr>
          <a:xfrm>
            <a:off x="770640" y="4208383"/>
            <a:ext cx="7556421" cy="807958"/>
            <a:chOff x="770640" y="4208383"/>
            <a:chExt cx="7556421" cy="807958"/>
          </a:xfrm>
        </p:grpSpPr>
        <p:sp>
          <p:nvSpPr>
            <p:cNvPr id="7" name="Shape 4"/>
            <p:cNvSpPr/>
            <p:nvPr/>
          </p:nvSpPr>
          <p:spPr>
            <a:xfrm>
              <a:off x="770640" y="4208383"/>
              <a:ext cx="7556421" cy="807958"/>
            </a:xfrm>
            <a:prstGeom prst="roundRect">
              <a:avLst>
                <a:gd name="adj" fmla="val 4211"/>
              </a:avLst>
            </a:prstGeom>
            <a:solidFill>
              <a:srgbClr val="E8F3E8"/>
            </a:solidFill>
            <a:ln/>
          </p:spPr>
        </p:sp>
        <p:sp>
          <p:nvSpPr>
            <p:cNvPr id="8" name="Text 5"/>
            <p:cNvSpPr/>
            <p:nvPr/>
          </p:nvSpPr>
          <p:spPr>
            <a:xfrm>
              <a:off x="997454" y="443519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Home Loans</a:t>
              </a:r>
              <a:endParaRPr lang="en-US" sz="2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EE01C8-1652-A5C7-A129-D5896D899739}"/>
              </a:ext>
            </a:extLst>
          </p:cNvPr>
          <p:cNvGrpSpPr/>
          <p:nvPr/>
        </p:nvGrpSpPr>
        <p:grpSpPr>
          <a:xfrm>
            <a:off x="770640" y="5243155"/>
            <a:ext cx="7556421" cy="807958"/>
            <a:chOff x="770640" y="5243155"/>
            <a:chExt cx="7556421" cy="807958"/>
          </a:xfrm>
        </p:grpSpPr>
        <p:sp>
          <p:nvSpPr>
            <p:cNvPr id="9" name="Shape 6"/>
            <p:cNvSpPr/>
            <p:nvPr/>
          </p:nvSpPr>
          <p:spPr>
            <a:xfrm>
              <a:off x="770640" y="5243155"/>
              <a:ext cx="7556421" cy="807958"/>
            </a:xfrm>
            <a:prstGeom prst="roundRect">
              <a:avLst>
                <a:gd name="adj" fmla="val 4211"/>
              </a:avLst>
            </a:prstGeom>
            <a:solidFill>
              <a:srgbClr val="E8F3E8"/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997454" y="546996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Auto Loans</a:t>
              </a:r>
              <a:endParaRPr lang="en-US" sz="2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AB177B-4699-6305-8EDC-13A6A06548F8}"/>
              </a:ext>
            </a:extLst>
          </p:cNvPr>
          <p:cNvGrpSpPr/>
          <p:nvPr/>
        </p:nvGrpSpPr>
        <p:grpSpPr>
          <a:xfrm>
            <a:off x="770640" y="6277928"/>
            <a:ext cx="7556421" cy="807958"/>
            <a:chOff x="770640" y="6277928"/>
            <a:chExt cx="7556421" cy="807958"/>
          </a:xfrm>
        </p:grpSpPr>
        <p:sp>
          <p:nvSpPr>
            <p:cNvPr id="11" name="Shape 8"/>
            <p:cNvSpPr/>
            <p:nvPr/>
          </p:nvSpPr>
          <p:spPr>
            <a:xfrm>
              <a:off x="770640" y="6277928"/>
              <a:ext cx="7556421" cy="807958"/>
            </a:xfrm>
            <a:prstGeom prst="roundRect">
              <a:avLst>
                <a:gd name="adj" fmla="val 4211"/>
              </a:avLst>
            </a:prstGeom>
            <a:solidFill>
              <a:srgbClr val="E8F3E8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997454" y="650474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Education Loans</a:t>
              </a:r>
              <a:endParaRPr 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5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51642"/>
            <a:ext cx="631400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Personal Loan?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1695688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personal loan is an unsecured loan. Approval is based on income, credit score, and repayment history.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D7B64B-D3B9-ABDE-8D01-A8234CFF355C}"/>
              </a:ext>
            </a:extLst>
          </p:cNvPr>
          <p:cNvGrpSpPr/>
          <p:nvPr/>
        </p:nvGrpSpPr>
        <p:grpSpPr>
          <a:xfrm>
            <a:off x="793790" y="2578656"/>
            <a:ext cx="3878580" cy="1224796"/>
            <a:chOff x="793790" y="2578656"/>
            <a:chExt cx="3878580" cy="1224796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2578656"/>
              <a:ext cx="1020723" cy="1224796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2120622" y="2782729"/>
              <a:ext cx="2551748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Medical Emergency</a:t>
              </a:r>
              <a:endParaRPr lang="en-US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8EA8B5-AD22-9536-ED01-A794635B550D}"/>
              </a:ext>
            </a:extLst>
          </p:cNvPr>
          <p:cNvGrpSpPr/>
          <p:nvPr/>
        </p:nvGrpSpPr>
        <p:grpSpPr>
          <a:xfrm>
            <a:off x="793790" y="3803452"/>
            <a:ext cx="3878580" cy="1224796"/>
            <a:chOff x="793790" y="3803452"/>
            <a:chExt cx="3878580" cy="1224796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790" y="3803452"/>
              <a:ext cx="1020723" cy="1224796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2120622" y="4007525"/>
              <a:ext cx="2551748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Wedding Expenses</a:t>
              </a:r>
              <a:endParaRPr lang="en-US" sz="2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C78B0C-7F66-8493-436A-57FE3CB03F11}"/>
              </a:ext>
            </a:extLst>
          </p:cNvPr>
          <p:cNvGrpSpPr/>
          <p:nvPr/>
        </p:nvGrpSpPr>
        <p:grpSpPr>
          <a:xfrm>
            <a:off x="793790" y="5028248"/>
            <a:ext cx="3878580" cy="1224796"/>
            <a:chOff x="793790" y="5028248"/>
            <a:chExt cx="3878580" cy="1224796"/>
          </a:xfrm>
        </p:grpSpPr>
        <p:pic>
          <p:nvPicPr>
            <p:cNvPr id="9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3790" y="5028248"/>
              <a:ext cx="1020723" cy="1224796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2120622" y="5232321"/>
              <a:ext cx="2551748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Travel</a:t>
              </a:r>
              <a:endParaRPr lang="en-US" sz="20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55B9B6-925F-A87D-5C00-6FE944BD2D1F}"/>
              </a:ext>
            </a:extLst>
          </p:cNvPr>
          <p:cNvGrpSpPr/>
          <p:nvPr/>
        </p:nvGrpSpPr>
        <p:grpSpPr>
          <a:xfrm>
            <a:off x="793790" y="6253043"/>
            <a:ext cx="3878580" cy="1224796"/>
            <a:chOff x="793790" y="6253043"/>
            <a:chExt cx="3878580" cy="1224796"/>
          </a:xfrm>
        </p:grpSpPr>
        <p:pic>
          <p:nvPicPr>
            <p:cNvPr id="11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790" y="6253043"/>
              <a:ext cx="1020723" cy="1224796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2120622" y="6457117"/>
              <a:ext cx="2551748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Home Renovation</a:t>
              </a:r>
              <a:endParaRPr lang="en-US" sz="2000" dirty="0"/>
            </a:p>
          </p:txBody>
        </p:sp>
      </p:grpSp>
      <p:pic>
        <p:nvPicPr>
          <p:cNvPr id="3076" name="Picture 4" descr="9 Factors that affects Personal Loan eligibility for Self Employed – Omozing">
            <a:extLst>
              <a:ext uri="{FF2B5EF4-FFF2-40B4-BE49-F238E27FC236}">
                <a16:creationId xmlns:a16="http://schemas.microsoft.com/office/drawing/2014/main" id="{85DD1BB1-7062-9FA1-EC3A-D5412E48F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770" y="0"/>
            <a:ext cx="636463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D50D078-440E-C8DB-7E18-AE9EE975D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0"/>
                    </a14:imgEffect>
                    <a14:imgEffect>
                      <a14:brightnessContrast contrast="-15000"/>
                    </a14:imgEffect>
                  </a14:imgLayer>
                </a14:imgProps>
              </a:ext>
            </a:extLst>
          </a:blip>
          <a:srcRect t="1113"/>
          <a:stretch/>
        </p:blipFill>
        <p:spPr>
          <a:xfrm>
            <a:off x="8380072" y="0"/>
            <a:ext cx="625032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230" y="986314"/>
            <a:ext cx="758628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Features of Personal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Loans</a:t>
            </a:r>
            <a:endParaRPr lang="en-US" sz="44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B22DB3-9F81-4351-4384-5EEB23F3C07C}"/>
              </a:ext>
            </a:extLst>
          </p:cNvPr>
          <p:cNvGrpSpPr/>
          <p:nvPr/>
        </p:nvGrpSpPr>
        <p:grpSpPr>
          <a:xfrm>
            <a:off x="4166685" y="2901434"/>
            <a:ext cx="2292073" cy="1216224"/>
            <a:chOff x="3425904" y="2901434"/>
            <a:chExt cx="2292073" cy="1216224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25904" y="2941082"/>
              <a:ext cx="250746" cy="250746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3903464" y="2901434"/>
              <a:ext cx="1814513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Fixed Rates</a:t>
              </a:r>
              <a:endParaRPr lang="en-US" sz="220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3903464" y="3391853"/>
              <a:ext cx="181451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Fixed interest rates and EMIs.</a:t>
              </a:r>
              <a:endParaRPr lang="en-US" sz="17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96ACBF-38B0-A9B2-6C26-B1219F5260B0}"/>
              </a:ext>
            </a:extLst>
          </p:cNvPr>
          <p:cNvGrpSpPr/>
          <p:nvPr/>
        </p:nvGrpSpPr>
        <p:grpSpPr>
          <a:xfrm>
            <a:off x="1534571" y="2901434"/>
            <a:ext cx="2291953" cy="1216224"/>
            <a:chOff x="793790" y="2901434"/>
            <a:chExt cx="2291953" cy="1216224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790" y="2941082"/>
              <a:ext cx="250627" cy="250627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1271230" y="2901434"/>
              <a:ext cx="1814513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Unsecured</a:t>
              </a:r>
              <a:endParaRPr lang="en-US" sz="22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1271230" y="3391853"/>
              <a:ext cx="181451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No collateral is required.</a:t>
              </a:r>
              <a:endParaRPr lang="en-US" sz="175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AB93C1-F585-44DD-2CBB-32B562F5D137}"/>
              </a:ext>
            </a:extLst>
          </p:cNvPr>
          <p:cNvGrpSpPr/>
          <p:nvPr/>
        </p:nvGrpSpPr>
        <p:grpSpPr>
          <a:xfrm>
            <a:off x="4292058" y="5192078"/>
            <a:ext cx="2291954" cy="1556386"/>
            <a:chOff x="6058138" y="2698910"/>
            <a:chExt cx="2291954" cy="1556386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58138" y="2738558"/>
              <a:ext cx="250627" cy="250627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6535579" y="2698910"/>
              <a:ext cx="1814513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Quick Process</a:t>
              </a:r>
              <a:endParaRPr lang="en-US" sz="22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6535579" y="3529491"/>
              <a:ext cx="181451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Fast processing and disbursal.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62C269-1DDA-3573-C421-28377DA497D9}"/>
              </a:ext>
            </a:extLst>
          </p:cNvPr>
          <p:cNvGrpSpPr/>
          <p:nvPr/>
        </p:nvGrpSpPr>
        <p:grpSpPr>
          <a:xfrm>
            <a:off x="1534571" y="5152430"/>
            <a:ext cx="2291953" cy="1933456"/>
            <a:chOff x="793790" y="5152430"/>
            <a:chExt cx="2291953" cy="1933456"/>
          </a:xfrm>
        </p:grpSpPr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3790" y="5192078"/>
              <a:ext cx="250627" cy="250627"/>
            </a:xfrm>
            <a:prstGeom prst="rect">
              <a:avLst/>
            </a:prstGeom>
          </p:spPr>
        </p:pic>
        <p:sp>
          <p:nvSpPr>
            <p:cNvPr id="14" name="Text 7"/>
            <p:cNvSpPr/>
            <p:nvPr/>
          </p:nvSpPr>
          <p:spPr>
            <a:xfrm>
              <a:off x="1271230" y="5152430"/>
              <a:ext cx="1814513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Flexible Terms</a:t>
              </a:r>
              <a:endParaRPr lang="en-US" sz="2200" dirty="0"/>
            </a:p>
          </p:txBody>
        </p:sp>
        <p:sp>
          <p:nvSpPr>
            <p:cNvPr id="15" name="Text 8"/>
            <p:cNvSpPr/>
            <p:nvPr/>
          </p:nvSpPr>
          <p:spPr>
            <a:xfrm>
              <a:off x="1271230" y="5997178"/>
              <a:ext cx="1814513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04C49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Repayment tenure of 12-60 months.</a:t>
              </a:r>
              <a:endParaRPr lang="en-US" sz="17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8331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Eligibility Criteria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89618" y="2350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Salaried Individuals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9618" y="29313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Age: 21-60 years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9618" y="33734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Minimum income: ₹15,000 - ₹25,000/month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89618" y="38156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Work experience: 1+ years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085656" y="5191424"/>
            <a:ext cx="35894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Self-Employed Individuals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85656" y="57725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Age: 25-65 years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085656" y="62147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Stable business income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85656" y="66569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Business vintage: 3+ years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EED751-C9E9-E9C8-8284-896E7AB9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327" y="923064"/>
            <a:ext cx="4759203" cy="40415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312A82-4E8E-7588-B474-2B539EF6F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18" y="4601739"/>
            <a:ext cx="4880441" cy="3226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25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2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975" y="774551"/>
            <a:ext cx="57984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Required Documents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921115" y="2385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Salaried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1115" y="29666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ID Proof (Aadhaar/PAN)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21115" y="34088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Address Proof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21115" y="38510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Salary slips (last 3 months)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21115" y="42932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Bank statement (6 months)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21115" y="5143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Self-Employed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21115" y="57249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ID Proof (Aadhaar/PAN)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21115" y="61671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Address Proof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21115" y="66093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ITR (2-3 years)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21115" y="70515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Business proof &amp; bank statements</a:t>
            </a:r>
            <a:endParaRPr lang="en-US" sz="175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7D9E8F-93FF-1D51-0AAE-425B1F9B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466" y="1"/>
            <a:ext cx="7893934" cy="82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7084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 Process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19068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1119783" y="1757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Check Eligibility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9783" y="224784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Verify eligibility online or with bank/NBFC.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4099203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1119783" y="2842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Fill Application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19783" y="3350689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Complete the application form accurately.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5179338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1119783" y="39450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Submit Documents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19783" y="4423810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Provide all required documents.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58203A-2A85-75ED-7851-5706AE17D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900" y="0"/>
            <a:ext cx="7046237" cy="8229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49F0D3-F179-8D4E-E220-FAD5DB884196}"/>
              </a:ext>
            </a:extLst>
          </p:cNvPr>
          <p:cNvSpPr txBox="1"/>
          <p:nvPr/>
        </p:nvSpPr>
        <p:spPr>
          <a:xfrm>
            <a:off x="985302" y="4863614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Verification and credit check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78DF232-2C12-399C-12A4-E161B3D1E69A}"/>
              </a:ext>
            </a:extLst>
          </p:cNvPr>
          <p:cNvSpPr/>
          <p:nvPr/>
        </p:nvSpPr>
        <p:spPr>
          <a:xfrm>
            <a:off x="1133953" y="5294501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Lender will verify and validate</a:t>
            </a:r>
            <a:endParaRPr lang="en-US" sz="17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BB070-551D-95BE-9C4D-15F77A47A330}"/>
              </a:ext>
            </a:extLst>
          </p:cNvPr>
          <p:cNvSpPr txBox="1"/>
          <p:nvPr/>
        </p:nvSpPr>
        <p:spPr>
          <a:xfrm>
            <a:off x="985302" y="5750897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defRPr>
            </a:lvl1pPr>
          </a:lstStyle>
          <a:p>
            <a:r>
              <a:rPr lang="en-IN" dirty="0"/>
              <a:t>Loan approval and disbursal to account</a:t>
            </a: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81AA2D98-F558-96F8-0A96-4D2C1F07DFA0}"/>
              </a:ext>
            </a:extLst>
          </p:cNvPr>
          <p:cNvSpPr/>
          <p:nvPr/>
        </p:nvSpPr>
        <p:spPr>
          <a:xfrm>
            <a:off x="1119783" y="6147822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</a:rPr>
              <a:t>Gets approved and transferred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6" grpId="0"/>
      <p:bldP spid="17" grpId="0" animBg="1"/>
      <p:bldP spid="19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020" y="797390"/>
            <a:ext cx="73021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&amp; Considerations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43417" y="5111597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✅</a:t>
            </a: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43417" y="57156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Quick access to funds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143417" y="61577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 need for security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143417" y="65999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Flexible usage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143417" y="70421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 any personal purpose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799768" y="5111597"/>
            <a:ext cx="3083838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⚠️</a:t>
            </a: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Things to Consider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99768" y="57156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Total interest &amp; fees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799768" y="61577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Borrow only what you can repay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799768" y="65999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Prepayment charges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799768" y="70421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Repayment builds credit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BFBFCD-327D-B35E-489F-367C12CEF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01" y="2267274"/>
            <a:ext cx="2729912" cy="24102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B4682A-3DE4-2B0C-3A40-6EC55A0AB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792" y="2518761"/>
            <a:ext cx="2145853" cy="2158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5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AA9BD-5B28-4BB1-803B-54BB6E1B0DE1}"/>
              </a:ext>
            </a:extLst>
          </p:cNvPr>
          <p:cNvSpPr txBox="1"/>
          <p:nvPr/>
        </p:nvSpPr>
        <p:spPr>
          <a:xfrm>
            <a:off x="843859" y="3890718"/>
            <a:ext cx="12635472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80" b="1" dirty="0">
                <a:solidFill>
                  <a:srgbClr val="002060"/>
                </a:solidFill>
                <a:latin typeface="Tw Cen MT" panose="020B0602020104020603" pitchFamily="34" charset="0"/>
              </a:rPr>
              <a:t>T H A N K S  F O R  YOUR VALUABLE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D5817-10C9-4E0E-A247-63D6F743F8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506" y="1444252"/>
            <a:ext cx="1492925" cy="14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68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325</Words>
  <Application>Microsoft Office PowerPoint</Application>
  <PresentationFormat>Custom</PresentationFormat>
  <Paragraphs>92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Tw Cen MT</vt:lpstr>
      <vt:lpstr>Calibri</vt:lpstr>
      <vt:lpstr>Sitka Banner</vt:lpstr>
      <vt:lpstr>Source Serif Pro Bold</vt:lpstr>
      <vt:lpstr>Source Serif Pro</vt:lpstr>
      <vt:lpstr>Platypi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 sankhyan</cp:lastModifiedBy>
  <cp:revision>6</cp:revision>
  <dcterms:created xsi:type="dcterms:W3CDTF">2025-04-05T09:44:52Z</dcterms:created>
  <dcterms:modified xsi:type="dcterms:W3CDTF">2025-04-05T11:24:16Z</dcterms:modified>
</cp:coreProperties>
</file>